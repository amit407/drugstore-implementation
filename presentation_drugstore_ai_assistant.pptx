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57" r:id="rId4"/>
    <p:sldId id="258" r:id="rId5"/>
    <p:sldId id="259" r:id="rId6"/>
    <p:sldId id="260" r:id="rId7"/>
    <p:sldId id="277" r:id="rId8"/>
    <p:sldId id="263" r:id="rId9"/>
    <p:sldId id="264" r:id="rId10"/>
    <p:sldId id="265" r:id="rId11"/>
    <p:sldId id="266" r:id="rId12"/>
    <p:sldId id="267" r:id="rId13"/>
    <p:sldId id="272" r:id="rId14"/>
    <p:sldId id="262" r:id="rId15"/>
    <p:sldId id="275" r:id="rId16"/>
    <p:sldId id="276" r:id="rId17"/>
    <p:sldId id="271" r:id="rId18"/>
    <p:sldId id="273" r:id="rId19"/>
    <p:sldId id="268" r:id="rId20"/>
    <p:sldId id="269" r:id="rId2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1EC"/>
    <a:srgbClr val="204163"/>
    <a:srgbClr val="F1F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" y="1377696"/>
            <a:ext cx="7856097" cy="51937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0666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1" y="7644384"/>
            <a:ext cx="7856095" cy="10607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241536" y="1058423"/>
            <a:ext cx="7014464" cy="8085575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51450" y="277309"/>
            <a:ext cx="3550397" cy="55114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9239764" y="1052744"/>
            <a:ext cx="0" cy="8091256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1" y="7227000"/>
            <a:ext cx="923976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1055876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6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2" y="816864"/>
            <a:ext cx="15004891" cy="1475232"/>
          </a:xfrm>
        </p:spPr>
        <p:txBody>
          <a:bodyPr/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12" y="2852928"/>
            <a:ext cx="15004891" cy="5718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2407417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912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" y="6964739"/>
            <a:ext cx="15240000" cy="1219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867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19" y="8110787"/>
            <a:ext cx="15239999" cy="7559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6256000" cy="67592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6757800"/>
            <a:ext cx="16251936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88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" y="1011936"/>
            <a:ext cx="10119360" cy="54498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19" y="7205472"/>
            <a:ext cx="15353703" cy="7680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698" y="8339328"/>
            <a:ext cx="3951589" cy="55114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62323" y="8339328"/>
            <a:ext cx="2239523" cy="55114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51827" y="8339328"/>
            <a:ext cx="728596" cy="55114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8077200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7033035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093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" y="1914144"/>
            <a:ext cx="15459456" cy="7412736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9733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1045096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634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0" y="1182624"/>
            <a:ext cx="15207036" cy="1560576"/>
          </a:xfrm>
        </p:spPr>
        <p:txBody>
          <a:bodyPr>
            <a:normAutofit/>
          </a:bodyPr>
          <a:lstStyle>
            <a:lvl1pPr>
              <a:defRPr sz="1173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3176" y="3776870"/>
            <a:ext cx="9191625" cy="4678601"/>
          </a:xfrm>
        </p:spPr>
        <p:txBody>
          <a:bodyPr anchor="t">
            <a:normAutofit/>
          </a:bodyPr>
          <a:lstStyle>
            <a:lvl1pPr marL="609585" indent="-609585">
              <a:buFont typeface="+mj-lt"/>
              <a:buAutoNum type="arabicPeriod"/>
              <a:defRPr sz="2667"/>
            </a:lvl1pPr>
            <a:lvl2pPr marL="1066773" indent="-457189">
              <a:buFont typeface="+mj-lt"/>
              <a:buAutoNum type="arabicPeriod"/>
              <a:defRPr sz="2400"/>
            </a:lvl2pPr>
            <a:lvl3pPr marL="1676358" indent="-457189">
              <a:buFont typeface="+mj-lt"/>
              <a:buAutoNum type="arabicPeriod"/>
              <a:defRPr sz="2133"/>
            </a:lvl3pPr>
            <a:lvl4pPr marL="2285943" indent="-457189">
              <a:buFont typeface="+mj-lt"/>
              <a:buAutoNum type="arabicPeriod"/>
              <a:defRPr sz="1867"/>
            </a:lvl4pPr>
            <a:lvl5pPr marL="2895528" indent="-457189">
              <a:buFont typeface="+mj-lt"/>
              <a:buAutoNum type="arabicPeriod"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824656"/>
            <a:ext cx="16256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1066800"/>
            <a:ext cx="16256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514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2592" y="694944"/>
            <a:ext cx="8863584" cy="2487168"/>
          </a:xfrm>
        </p:spPr>
        <p:txBody>
          <a:bodyPr>
            <a:normAutofit/>
          </a:bodyPr>
          <a:lstStyle>
            <a:lvl1pPr>
              <a:defRPr sz="10666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56427" cy="9144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2591" y="3535680"/>
            <a:ext cx="8436864" cy="4730496"/>
          </a:xfrm>
        </p:spPr>
        <p:txBody>
          <a:bodyPr>
            <a:normAutofit/>
          </a:bodyPr>
          <a:lstStyle>
            <a:lvl1pPr marL="609585" indent="-609585">
              <a:buFont typeface="+mj-lt"/>
              <a:buAutoNum type="arabicPeriod"/>
              <a:defRPr sz="2667"/>
            </a:lvl1pPr>
            <a:lvl2pPr marL="1066773" indent="-457189">
              <a:buFont typeface="+mj-lt"/>
              <a:buAutoNum type="arabicPeriod"/>
              <a:defRPr sz="2400"/>
            </a:lvl2pPr>
            <a:lvl3pPr marL="1676358" indent="-457189">
              <a:buFont typeface="+mj-lt"/>
              <a:buAutoNum type="arabicPeriod"/>
              <a:defRPr sz="2133"/>
            </a:lvl3pPr>
            <a:lvl4pPr marL="2285943" indent="-457189">
              <a:buFont typeface="+mj-lt"/>
              <a:buAutoNum type="arabicPeriod"/>
              <a:defRPr sz="1867"/>
            </a:lvl4pPr>
            <a:lvl5pPr marL="2895528" indent="-457189">
              <a:buFont typeface="+mj-lt"/>
              <a:buAutoNum type="arabicPeriod"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9199" y="280416"/>
            <a:ext cx="3950208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764681" y="280416"/>
            <a:ext cx="2239523" cy="54864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6565221" y="3269932"/>
            <a:ext cx="9690779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6565221" y="0"/>
            <a:ext cx="0" cy="9144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711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5" y="2769833"/>
            <a:ext cx="5972143" cy="35885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8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8770" y="2947390"/>
            <a:ext cx="7825724" cy="324330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68770" y="277309"/>
            <a:ext cx="2561753" cy="551147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7082584" y="2067511"/>
            <a:ext cx="0" cy="500897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7078459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2067511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248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1666613"/>
            <a:ext cx="5447883" cy="683423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512" y="1666612"/>
            <a:ext cx="8587232" cy="6985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51804" y="277309"/>
            <a:ext cx="2561753" cy="551147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6558328" y="1073792"/>
            <a:ext cx="0" cy="807020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905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7835" y="999744"/>
            <a:ext cx="8589365" cy="27188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47104" cy="9144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7833" y="284643"/>
            <a:ext cx="3950208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812303" y="280416"/>
            <a:ext cx="2239523" cy="54864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7834" y="3925825"/>
            <a:ext cx="8589367" cy="4762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6547104" y="0"/>
            <a:ext cx="0" cy="9144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233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744" y="816864"/>
            <a:ext cx="9363456" cy="137769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790112" cy="9144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33743" y="280416"/>
            <a:ext cx="4708583" cy="55114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776399" y="280416"/>
            <a:ext cx="2239523" cy="551147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3743" y="2328672"/>
            <a:ext cx="9363456" cy="64089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5794347" y="0"/>
            <a:ext cx="0" cy="9144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507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2" y="816864"/>
            <a:ext cx="9353977" cy="137769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966601" y="277309"/>
            <a:ext cx="2243328" cy="551147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52793" y="277309"/>
            <a:ext cx="728596" cy="55114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698" y="2328672"/>
            <a:ext cx="9357695" cy="64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364790" y="0"/>
            <a:ext cx="5889620" cy="9144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10358444" y="0"/>
            <a:ext cx="0" cy="9144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297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98" y="999744"/>
            <a:ext cx="7704303" cy="13776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696" y="280416"/>
            <a:ext cx="3950208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92217" y="280416"/>
            <a:ext cx="2239523" cy="54864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85458" y="280416"/>
            <a:ext cx="728596" cy="55114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698" y="2657855"/>
            <a:ext cx="7704303" cy="60797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7221" y="0"/>
            <a:ext cx="7488779" cy="9144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8760839" y="1"/>
            <a:ext cx="0" cy="9143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5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2" y="999744"/>
            <a:ext cx="5498240" cy="20238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333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698" y="280416"/>
            <a:ext cx="3013409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39106" y="280416"/>
            <a:ext cx="1410815" cy="54864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46930" y="280416"/>
            <a:ext cx="587959" cy="55114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605" y="3438146"/>
            <a:ext cx="5507475" cy="4949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50211" y="0"/>
            <a:ext cx="9705788" cy="9144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6543951" y="0"/>
            <a:ext cx="0" cy="9144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767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1" y="999744"/>
            <a:ext cx="15353007" cy="128016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698" y="2907408"/>
            <a:ext cx="6683140" cy="571233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63565" y="2446032"/>
            <a:ext cx="8504963" cy="6697968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7755272" y="2436339"/>
            <a:ext cx="0" cy="672084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2436339"/>
            <a:ext cx="16256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932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2" y="6888485"/>
            <a:ext cx="4875373" cy="163122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6264128" cy="6449568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5495" y="6888485"/>
            <a:ext cx="9431701" cy="1631227"/>
          </a:xfrm>
        </p:spPr>
        <p:txBody>
          <a:bodyPr/>
          <a:lstStyle>
            <a:lvl1pPr marL="0" indent="0">
              <a:buNone/>
              <a:defRPr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696" y="8583169"/>
            <a:ext cx="3950208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5495" y="8582925"/>
            <a:ext cx="6065884" cy="486833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51827" y="8583168"/>
            <a:ext cx="728596" cy="55114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5711233" y="6449568"/>
            <a:ext cx="0" cy="269443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667" y="6456141"/>
            <a:ext cx="162576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301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1" y="1016003"/>
            <a:ext cx="8817048" cy="207452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835" y="3247955"/>
            <a:ext cx="9711633" cy="5896043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0091" y="1016000"/>
            <a:ext cx="5457084" cy="772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3247955"/>
            <a:ext cx="97028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9702800" y="1"/>
            <a:ext cx="0" cy="9143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646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1" y="597408"/>
            <a:ext cx="15353012" cy="149961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696" y="284643"/>
            <a:ext cx="3950208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1856" y="280416"/>
            <a:ext cx="2239523" cy="54864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51827" y="277309"/>
            <a:ext cx="728596" cy="54864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819" y="2267712"/>
            <a:ext cx="4424227" cy="6876288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589" y="2840737"/>
            <a:ext cx="10628612" cy="5896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2260691"/>
            <a:ext cx="16256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4424227" y="2260691"/>
            <a:ext cx="0" cy="688330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15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976" y="1584960"/>
            <a:ext cx="5425440" cy="597408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3733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7408" y="2145792"/>
            <a:ext cx="9034272" cy="5535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44532" dirty="0">
                <a:solidFill>
                  <a:schemeClr val="accent1"/>
                </a:solidFill>
                <a:latin typeface="+mj-lt"/>
              </a:defRPr>
            </a:lvl1pPr>
            <a:lvl2pPr marL="609585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696" y="280416"/>
            <a:ext cx="3950208" cy="54864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1856" y="280416"/>
            <a:ext cx="2239523" cy="54864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51827" y="280416"/>
            <a:ext cx="728596" cy="54864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8092588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559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64" y="-1511808"/>
            <a:ext cx="14203680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3698" y="1219200"/>
            <a:ext cx="13393903" cy="5952739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11733" b="0">
                <a:solidFill>
                  <a:schemeClr val="tx2"/>
                </a:solidFill>
                <a:latin typeface="+mj-lt"/>
              </a:defRPr>
            </a:lvl1pPr>
            <a:lvl2pPr marL="304792" indent="0">
              <a:lnSpc>
                <a:spcPct val="100000"/>
              </a:lnSpc>
              <a:buNone/>
              <a:defRPr sz="10666" b="0">
                <a:solidFill>
                  <a:schemeClr val="tx2"/>
                </a:solidFill>
                <a:latin typeface="+mj-lt"/>
              </a:defRPr>
            </a:lvl2pPr>
            <a:lvl3pPr marL="609585" indent="0">
              <a:lnSpc>
                <a:spcPct val="100000"/>
              </a:lnSpc>
              <a:buNone/>
              <a:defRPr sz="9600" b="0">
                <a:solidFill>
                  <a:schemeClr val="tx2"/>
                </a:solidFill>
                <a:latin typeface="+mj-lt"/>
              </a:defRPr>
            </a:lvl3pPr>
            <a:lvl4pPr marL="914377" indent="0">
              <a:lnSpc>
                <a:spcPct val="100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4pPr>
            <a:lvl5pPr marL="121917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698" y="8351520"/>
            <a:ext cx="3951589" cy="55114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0093" y="8351520"/>
            <a:ext cx="2561753" cy="551147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51827" y="8351520"/>
            <a:ext cx="728596" cy="55114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8077200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905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976" y="7253627"/>
            <a:ext cx="12399264" cy="1354661"/>
          </a:xfrm>
        </p:spPr>
        <p:txBody>
          <a:bodyPr anchor="ctr">
            <a:normAutofit/>
          </a:bodyPr>
          <a:lstStyle>
            <a:lvl1pPr>
              <a:defRPr sz="2667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6720" y="1561089"/>
            <a:ext cx="12923520" cy="5162879"/>
          </a:xfrm>
        </p:spPr>
        <p:txBody>
          <a:bodyPr>
            <a:normAutofit/>
          </a:bodyPr>
          <a:lstStyle>
            <a:lvl1pPr marL="365751" indent="-365751">
              <a:lnSpc>
                <a:spcPct val="70000"/>
              </a:lnSpc>
              <a:buNone/>
              <a:defRPr sz="11733" cap="all" baseline="0">
                <a:solidFill>
                  <a:schemeClr val="tx2"/>
                </a:solidFill>
                <a:latin typeface="+mj-lt"/>
              </a:defRPr>
            </a:lvl1pPr>
            <a:lvl2pPr marL="365751" indent="-365751">
              <a:lnSpc>
                <a:spcPct val="70000"/>
              </a:lnSpc>
              <a:buNone/>
              <a:defRPr sz="10666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365751" indent="-365751">
              <a:lnSpc>
                <a:spcPct val="70000"/>
              </a:lnSpc>
              <a:buNone/>
              <a:defRPr sz="9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365751" indent="-365751">
              <a:lnSpc>
                <a:spcPct val="70000"/>
              </a:lnSpc>
              <a:buNone/>
              <a:defRPr sz="88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365751" indent="-365751">
              <a:lnSpc>
                <a:spcPct val="70000"/>
              </a:lnSpc>
              <a:buNone/>
              <a:defRPr sz="88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696" y="280416"/>
            <a:ext cx="3950208" cy="54864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1856" y="280416"/>
            <a:ext cx="3258384" cy="54864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51827" y="280416"/>
            <a:ext cx="728596" cy="54864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1049572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7032707"/>
            <a:ext cx="16256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016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2" y="914400"/>
            <a:ext cx="15004891" cy="8875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3697" y="2365143"/>
            <a:ext cx="7132320" cy="5937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99983" y="2365144"/>
            <a:ext cx="7132320" cy="5937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923768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7539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96" y="914400"/>
            <a:ext cx="15008352" cy="8900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698" y="2365143"/>
            <a:ext cx="7132085" cy="786859"/>
          </a:xfrm>
        </p:spPr>
        <p:txBody>
          <a:bodyPr anchor="b">
            <a:normAutofit/>
          </a:bodyPr>
          <a:lstStyle>
            <a:lvl1pPr marL="0" indent="0">
              <a:buNone/>
              <a:defRPr sz="2400" b="1" cap="all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698" y="3157968"/>
            <a:ext cx="7132085" cy="51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99728" y="2365143"/>
            <a:ext cx="7132320" cy="786859"/>
          </a:xfrm>
        </p:spPr>
        <p:txBody>
          <a:bodyPr anchor="b">
            <a:normAutofit/>
          </a:bodyPr>
          <a:lstStyle>
            <a:lvl1pPr marL="0" indent="0">
              <a:buNone/>
              <a:defRPr sz="2400" b="1" cap="all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99728" y="3157968"/>
            <a:ext cx="7132320" cy="51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923768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3722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60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347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824656"/>
            <a:ext cx="16256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2" y="1109472"/>
            <a:ext cx="15004891" cy="1633728"/>
          </a:xfrm>
        </p:spPr>
        <p:txBody>
          <a:bodyPr>
            <a:normAutofit/>
          </a:bodyPr>
          <a:lstStyle>
            <a:lvl1pPr>
              <a:defRPr sz="11733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696" y="8351520"/>
            <a:ext cx="3950208" cy="54864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1855" y="8351520"/>
            <a:ext cx="2578071" cy="54864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51827" y="8351520"/>
            <a:ext cx="728596" cy="55114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10" y="4572002"/>
            <a:ext cx="15004892" cy="36980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375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3" y="1693853"/>
            <a:ext cx="10573307" cy="2747851"/>
          </a:xfrm>
        </p:spPr>
        <p:txBody>
          <a:bodyPr>
            <a:normAutofit/>
          </a:bodyPr>
          <a:lstStyle>
            <a:lvl1pPr>
              <a:defRPr sz="11733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701" y="5059682"/>
            <a:ext cx="10577020" cy="2041455"/>
          </a:xfrm>
        </p:spPr>
        <p:txBody>
          <a:bodyPr>
            <a:normAutofit/>
          </a:bodyPr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696" y="284643"/>
            <a:ext cx="3950208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91856" y="280416"/>
            <a:ext cx="2239523" cy="54864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4579876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906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1052751"/>
            <a:ext cx="16256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2" y="1247731"/>
            <a:ext cx="15004891" cy="8875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7412" y="2276775"/>
            <a:ext cx="15004891" cy="64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698" y="277309"/>
            <a:ext cx="3951589" cy="5511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133" b="1" cap="all" spc="133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40093" y="277309"/>
            <a:ext cx="2561753" cy="5511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133" b="1" cap="all" spc="133" baseline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051827" y="277309"/>
            <a:ext cx="728596" cy="5511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33" b="1" cap="all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4667" y="8856134"/>
            <a:ext cx="2637367" cy="205121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33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768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1219170" rtl="0" eaLnBrk="1" latinLnBrk="0" hangingPunct="1">
        <a:lnSpc>
          <a:spcPct val="70000"/>
        </a:lnSpc>
        <a:spcBef>
          <a:spcPct val="0"/>
        </a:spcBef>
        <a:buNone/>
        <a:defRPr sz="5333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120000"/>
        </a:lnSpc>
        <a:spcBef>
          <a:spcPts val="1333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2133" kern="1200">
          <a:solidFill>
            <a:schemeClr val="tx2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2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2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2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60E0AA-4AE6-4F17-702A-FC5ECB8B75CC}"/>
              </a:ext>
            </a:extLst>
          </p:cNvPr>
          <p:cNvSpPr txBox="1"/>
          <p:nvPr/>
        </p:nvSpPr>
        <p:spPr>
          <a:xfrm>
            <a:off x="279400" y="228600"/>
            <a:ext cx="411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4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Amit Shraga 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IL" sz="24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Yuval </a:t>
            </a:r>
            <a:r>
              <a:rPr lang="en-IL" sz="2400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Shaanan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IL" sz="24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Michal Peri Markovich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144AB-04AA-FE33-919A-7ABBB89D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Project Goal</a:t>
            </a:r>
            <a:endParaRPr lang="en-IL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FF677-9C4A-4F04-63F7-14FD2BD6F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12" y="3124200"/>
            <a:ext cx="11023600" cy="4525963"/>
          </a:xfrm>
        </p:spPr>
        <p:txBody>
          <a:bodyPr/>
          <a:lstStyle/>
          <a:p>
            <a:r>
              <a:rPr lang="en-US" dirty="0"/>
              <a:t>Using NLP to Query Store Database</a:t>
            </a:r>
          </a:p>
          <a:p>
            <a:pPr lvl="1"/>
            <a:r>
              <a:rPr lang="en-US" dirty="0"/>
              <a:t>Retrieving data in excel </a:t>
            </a:r>
          </a:p>
          <a:p>
            <a:pPr lvl="1"/>
            <a:endParaRPr lang="en-US" dirty="0"/>
          </a:p>
          <a:p>
            <a:r>
              <a:rPr lang="en-US" dirty="0"/>
              <a:t>Assistant for Drug store</a:t>
            </a:r>
          </a:p>
          <a:p>
            <a:pPr lvl="1"/>
            <a:r>
              <a:rPr lang="en-US" dirty="0"/>
              <a:t>Able to find the correct medication or product </a:t>
            </a:r>
          </a:p>
          <a:p>
            <a:pPr lvl="1"/>
            <a:r>
              <a:rPr lang="en-US" dirty="0"/>
              <a:t>Evaluate prices, Inventory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07815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5360" y="487681"/>
            <a:ext cx="14264640" cy="982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7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rPr sz="1867" dirty="0"/>
              <a:t>HYBRID RETRIEVAL ENGINE</a:t>
            </a:r>
          </a:p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rPr sz="4267" dirty="0">
                <a:solidFill>
                  <a:srgbClr val="002060"/>
                </a:solidFill>
              </a:rPr>
              <a:t>FAISS Dense Search Combined with BM25 Lexical Search</a:t>
            </a:r>
          </a:p>
        </p:txBody>
      </p:sp>
      <p:pic>
        <p:nvPicPr>
          <p:cNvPr id="3" name="Picture 2" descr="hybrid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6" y="2110024"/>
            <a:ext cx="14304873" cy="65462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49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51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69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27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4CA2-E569-7263-9196-70D6C0DD9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699000" cy="1143000"/>
          </a:xfrm>
        </p:spPr>
        <p:txBody>
          <a:bodyPr/>
          <a:lstStyle/>
          <a:p>
            <a:r>
              <a:rPr lang="en-US" dirty="0"/>
              <a:t>problem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F9195-154D-F61E-78AB-0AC0266FF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2170241"/>
            <a:ext cx="14300200" cy="198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dirty="0"/>
              <a:t>❓ Question: what is the cheapest thing you have for an headache? </a:t>
            </a:r>
            <a:endParaRPr lang="en-US" dirty="0"/>
          </a:p>
          <a:p>
            <a:pPr marL="0" indent="0">
              <a:buNone/>
            </a:pPr>
            <a:r>
              <a:rPr lang="en-IL" dirty="0"/>
              <a:t>💡 Answer: Tylenol Extra Strength - ₪24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CB180A-5511-973A-4142-4D69EE4C5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2900" y="4411839"/>
            <a:ext cx="8051800" cy="1729582"/>
          </a:xfrm>
        </p:spPr>
        <p:txBody>
          <a:bodyPr/>
          <a:lstStyle/>
          <a:p>
            <a:r>
              <a:rPr lang="en-US" dirty="0"/>
              <a:t>Requires both </a:t>
            </a:r>
            <a:r>
              <a:rPr lang="en-IL" dirty="0"/>
              <a:t>semantic reasoning (headache) and quantitative reasoning</a:t>
            </a:r>
            <a:r>
              <a:rPr lang="en-US" dirty="0"/>
              <a:t> (cheapest)</a:t>
            </a:r>
            <a:endParaRPr lang="en-IL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D9CE7DF-44D8-7221-602C-E6B679D0B462}"/>
              </a:ext>
            </a:extLst>
          </p:cNvPr>
          <p:cNvSpPr txBox="1">
            <a:spLocks/>
          </p:cNvSpPr>
          <p:nvPr/>
        </p:nvSpPr>
        <p:spPr>
          <a:xfrm>
            <a:off x="457200" y="5639116"/>
            <a:ext cx="4241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330" dirty="0"/>
              <a:t>Solution</a:t>
            </a:r>
            <a:endParaRPr lang="en-IL" sz="533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B8FDBF2-EC5A-F2FB-E2FE-7201893FF556}"/>
              </a:ext>
            </a:extLst>
          </p:cNvPr>
          <p:cNvSpPr txBox="1">
            <a:spLocks/>
          </p:cNvSpPr>
          <p:nvPr/>
        </p:nvSpPr>
        <p:spPr>
          <a:xfrm>
            <a:off x="342900" y="6984441"/>
            <a:ext cx="14071600" cy="1729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</a:t>
            </a:r>
            <a:r>
              <a:rPr lang="en-IL" dirty="0" err="1"/>
              <a:t>ulti</a:t>
            </a:r>
            <a:r>
              <a:rPr lang="en-IL" dirty="0"/>
              <a:t>-tool agent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670E553-E13E-67D4-5463-904CD8F36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446709"/>
              </p:ext>
            </p:extLst>
          </p:nvPr>
        </p:nvGraphicFramePr>
        <p:xfrm>
          <a:off x="10337800" y="2173189"/>
          <a:ext cx="5638800" cy="2377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344636784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57087238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65036324"/>
                    </a:ext>
                  </a:extLst>
                </a:gridCol>
              </a:tblGrid>
              <a:tr h="359584">
                <a:tc>
                  <a:txBody>
                    <a:bodyPr/>
                    <a:lstStyle/>
                    <a:p>
                      <a:r>
                        <a:rPr lang="en-US" sz="3200" dirty="0"/>
                        <a:t>Product</a:t>
                      </a:r>
                      <a:endParaRPr lang="en-IL" sz="3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Type</a:t>
                      </a:r>
                      <a:endParaRPr lang="en-IL" sz="3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Price</a:t>
                      </a:r>
                      <a:endParaRPr lang="en-IL" sz="3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570376"/>
                  </a:ext>
                </a:extLst>
              </a:tr>
              <a:tr h="3595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Advil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Ibuprofen pain/fever relief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₪18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64401590"/>
                  </a:ext>
                </a:extLst>
              </a:tr>
              <a:tr h="3595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Nurofen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Ibuprofen pain/fever relief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₪22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22434947"/>
                  </a:ext>
                </a:extLst>
              </a:tr>
              <a:tr h="3595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Acamol</a:t>
                      </a:r>
                      <a:endParaRPr lang="en-IL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Paracetamol pain/fever relief</a:t>
                      </a:r>
                      <a:endParaRPr lang="en-IL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₪14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98494090"/>
                  </a:ext>
                </a:extLst>
              </a:tr>
              <a:tr h="3595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Tylenol</a:t>
                      </a:r>
                      <a:endParaRPr lang="en-IL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Paracetamol pain/fever relief</a:t>
                      </a:r>
                      <a:endParaRPr lang="en-IL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₪24</a:t>
                      </a:r>
                      <a:endParaRPr lang="en-IL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1592124"/>
                  </a:ext>
                </a:extLst>
              </a:tr>
              <a:tr h="3595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Aspirin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Low-dose aspirin product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₪12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13895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877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5360" y="487681"/>
            <a:ext cx="14264640" cy="982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7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rPr sz="1867"/>
              <a:t>AGENTIC ARCHITECTURE</a:t>
            </a:r>
          </a:p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rPr sz="4267"/>
              <a:t>Iterative Reasoning Loop with Tool Call Observations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5360" y="2438400"/>
            <a:ext cx="33528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rtlCol="0" anchor="ctr"/>
          <a:lstStyle/>
          <a:p>
            <a:pPr algn="ctr">
              <a:spcAft>
                <a:spcPts val="1867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rPr sz="2667"/>
              <a:t>1. USER QUERY</a:t>
            </a:r>
          </a:p>
          <a:p>
            <a:pPr>
              <a:defRPr sz="1800">
                <a:solidFill>
                  <a:srgbClr val="64748B"/>
                </a:solidFill>
                <a:latin typeface="Arial"/>
              </a:defRPr>
            </a:pPr>
            <a:r>
              <a:rPr sz="2400"/>
              <a:t>Receives complex question e.g. budget + headache.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438400"/>
            <a:ext cx="33528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rtlCol="0" anchor="ctr"/>
          <a:lstStyle/>
          <a:p>
            <a:pPr algn="ctr">
              <a:spcAft>
                <a:spcPts val="1867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rPr sz="2667"/>
              <a:t>2. LLM REASONING</a:t>
            </a:r>
          </a:p>
          <a:p>
            <a:pPr>
              <a:defRPr sz="1800">
                <a:solidFill>
                  <a:srgbClr val="64748B"/>
                </a:solidFill>
                <a:latin typeface="Arial"/>
              </a:defRPr>
            </a:pPr>
            <a:r>
              <a:rPr sz="2400"/>
              <a:t>Generates single JSON tool call per turn.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8640" y="2438400"/>
            <a:ext cx="33528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rtlCol="0" anchor="ctr"/>
          <a:lstStyle/>
          <a:p>
            <a:pPr algn="ctr">
              <a:spcAft>
                <a:spcPts val="1867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rPr sz="2667"/>
              <a:t>3. TOOL EXECUTION</a:t>
            </a:r>
          </a:p>
          <a:p>
            <a:pPr>
              <a:defRPr sz="1800">
                <a:solidFill>
                  <a:srgbClr val="64748B"/>
                </a:solidFill>
                <a:latin typeface="Arial"/>
              </a:defRPr>
            </a:pPr>
            <a:r>
              <a:rPr sz="2400"/>
              <a:t>Runs Python tool &amp; captures observation string.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65280" y="2438400"/>
            <a:ext cx="3352800" cy="5486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rtlCol="0" anchor="ctr"/>
          <a:lstStyle/>
          <a:p>
            <a:pPr algn="ctr">
              <a:spcAft>
                <a:spcPts val="1867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rPr sz="2667"/>
              <a:t>4. FINAL ANSWER</a:t>
            </a:r>
          </a:p>
          <a:p>
            <a:pPr>
              <a:defRPr sz="1800">
                <a:solidFill>
                  <a:srgbClr val="64748B"/>
                </a:solidFill>
                <a:latin typeface="Arial"/>
              </a:defRPr>
            </a:pPr>
            <a:r>
              <a:rPr sz="2400"/>
              <a:t>Repeats until calling final_answer (max 6 steps).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5360" y="487681"/>
            <a:ext cx="14264640" cy="982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67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rPr sz="1867"/>
              <a:t>TOOL ECOSYSTEM</a:t>
            </a:r>
          </a:p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rPr sz="4267"/>
              <a:t>Five Specialized Tools Grounded in Database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5360" y="2194560"/>
            <a:ext cx="43891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rtlCol="0" anchor="ctr"/>
          <a:lstStyle/>
          <a:p>
            <a:pPr algn="ctr">
              <a:defRPr sz="2000" b="1">
                <a:solidFill>
                  <a:srgbClr val="0284C7"/>
                </a:solidFill>
                <a:latin typeface="Courier New"/>
              </a:defRPr>
            </a:pPr>
            <a:r>
              <a:rPr sz="2667"/>
              <a:t>search_products</a:t>
            </a:r>
          </a:p>
          <a:p>
            <a:pPr>
              <a:spcAft>
                <a:spcPts val="1067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rPr sz="1733"/>
              <a:t>SUBSTRING SEARCH</a:t>
            </a:r>
          </a:p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rPr sz="2133"/>
              <a:t>Exact matches for brand names (e.g. 'Cetaphil', 'Nurofen').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30240" y="2194560"/>
            <a:ext cx="43891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rtlCol="0" anchor="ctr"/>
          <a:lstStyle/>
          <a:p>
            <a:pPr algn="ctr">
              <a:defRPr sz="2000" b="1">
                <a:solidFill>
                  <a:srgbClr val="0284C7"/>
                </a:solidFill>
                <a:latin typeface="Courier New"/>
              </a:defRPr>
            </a:pPr>
            <a:r>
              <a:rPr sz="2667"/>
              <a:t>by_category</a:t>
            </a:r>
          </a:p>
          <a:p>
            <a:pPr>
              <a:spcAft>
                <a:spcPts val="1067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rPr sz="1733"/>
              <a:t>CATEGORY + BUDGET FILTER</a:t>
            </a:r>
          </a:p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rPr sz="2133"/>
              <a:t>Filters by category with optional max_price guard.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85120" y="2194560"/>
            <a:ext cx="43891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rtlCol="0" anchor="ctr"/>
          <a:lstStyle/>
          <a:p>
            <a:pPr algn="ctr">
              <a:defRPr sz="2000" b="1">
                <a:solidFill>
                  <a:srgbClr val="0284C7"/>
                </a:solidFill>
                <a:latin typeface="Courier New"/>
              </a:defRPr>
            </a:pPr>
            <a:r>
              <a:rPr sz="2667"/>
              <a:t>semantic_search</a:t>
            </a:r>
          </a:p>
          <a:p>
            <a:pPr>
              <a:spcAft>
                <a:spcPts val="1067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rPr sz="1733"/>
              <a:t>FAISS + BM25 SEARCH</a:t>
            </a:r>
          </a:p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rPr sz="2133"/>
              <a:t>Meaning-based search for unstated symptom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2800" y="5486400"/>
            <a:ext cx="43891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rtlCol="0" anchor="ctr"/>
          <a:lstStyle/>
          <a:p>
            <a:pPr algn="ctr">
              <a:defRPr sz="2000" b="1">
                <a:solidFill>
                  <a:srgbClr val="0284C7"/>
                </a:solidFill>
                <a:latin typeface="Courier New"/>
              </a:defRPr>
            </a:pPr>
            <a:r>
              <a:rPr sz="2667"/>
              <a:t>query_table</a:t>
            </a:r>
          </a:p>
          <a:p>
            <a:pPr>
              <a:spcAft>
                <a:spcPts val="1067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rPr sz="1733"/>
              <a:t>PANDAS EXPRESSION</a:t>
            </a:r>
          </a:p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rPr sz="2133"/>
              <a:t>Direct code execution for exact counts and math.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7680" y="5486400"/>
            <a:ext cx="43891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>
            <a:outerShdw blurRad="30000" dist="15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4800" tIns="304800" rIns="304800" rtlCol="0" anchor="ctr"/>
          <a:lstStyle/>
          <a:p>
            <a:pPr algn="ctr">
              <a:defRPr sz="2000" b="1">
                <a:solidFill>
                  <a:srgbClr val="0284C7"/>
                </a:solidFill>
                <a:latin typeface="Courier New"/>
              </a:defRPr>
            </a:pPr>
            <a:r>
              <a:rPr sz="2667"/>
              <a:t>calculator</a:t>
            </a:r>
          </a:p>
          <a:p>
            <a:pPr>
              <a:spcAft>
                <a:spcPts val="1067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rPr sz="1733"/>
              <a:t>REGEX WHITELISTED MATH</a:t>
            </a:r>
          </a:p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rPr sz="2133"/>
              <a:t>Safe arithmetic evaluation on retrieved numbers.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8670C-AE09-9723-2F4B-C5871AF5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24725"/>
            <a:ext cx="5314873" cy="1052340"/>
          </a:xfrm>
        </p:spPr>
        <p:txBody>
          <a:bodyPr anchor="b">
            <a:normAutofit/>
          </a:bodyPr>
          <a:lstStyle/>
          <a:p>
            <a:r>
              <a:rPr lang="en-US" sz="5300" dirty="0"/>
              <a:t>The Agent</a:t>
            </a:r>
            <a:endParaRPr lang="en-IL" sz="5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09894-0E25-0D51-CD1D-8C663C661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540" y="4701733"/>
            <a:ext cx="5314873" cy="3451277"/>
          </a:xfrm>
        </p:spPr>
        <p:txBody>
          <a:bodyPr>
            <a:normAutofit/>
          </a:bodyPr>
          <a:lstStyle/>
          <a:p>
            <a:endParaRPr lang="en-IL" sz="2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BB7748-71FD-DF84-ACA4-24E76A290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21" y="2895600"/>
            <a:ext cx="14385579" cy="499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76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7D117-83F9-4752-8157-6C627883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93D1B-D7D3-DC91-7055-37DBE930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24725"/>
            <a:ext cx="5314873" cy="1052340"/>
          </a:xfrm>
        </p:spPr>
        <p:txBody>
          <a:bodyPr anchor="b">
            <a:normAutofit/>
          </a:bodyPr>
          <a:lstStyle/>
          <a:p>
            <a:r>
              <a:rPr lang="en-US" sz="5300" dirty="0"/>
              <a:t>The Agent</a:t>
            </a:r>
            <a:endParaRPr lang="en-IL" sz="5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2D61-ACDE-4644-E670-9DA05C7FD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540" y="4701733"/>
            <a:ext cx="5314873" cy="3451277"/>
          </a:xfrm>
        </p:spPr>
        <p:txBody>
          <a:bodyPr>
            <a:normAutofit/>
          </a:bodyPr>
          <a:lstStyle/>
          <a:p>
            <a:endParaRPr lang="en-IL" sz="2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2090EC-B965-6846-800B-97321CDF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354334"/>
            <a:ext cx="14113510" cy="756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20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244</TotalTime>
  <Words>279</Words>
  <Application>Microsoft Office PowerPoint</Application>
  <PresentationFormat>Custom</PresentationFormat>
  <Paragraphs>66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Consolas</vt:lpstr>
      <vt:lpstr>Haettenschweiler</vt:lpstr>
      <vt:lpstr>Trade Gothic Next Light</vt:lpstr>
      <vt:lpstr>Editorial</vt:lpstr>
      <vt:lpstr>PowerPoint Presentation</vt:lpstr>
      <vt:lpstr>Project Goal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</vt:lpstr>
      <vt:lpstr>PowerPoint Presentation</vt:lpstr>
      <vt:lpstr>PowerPoint Presentation</vt:lpstr>
      <vt:lpstr>PowerPoint Presentation</vt:lpstr>
      <vt:lpstr>The Agent</vt:lpstr>
      <vt:lpstr>The Agent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 p</dc:creator>
  <cp:lastModifiedBy>a p</cp:lastModifiedBy>
  <cp:revision>6</cp:revision>
  <dcterms:created xsi:type="dcterms:W3CDTF">2006-08-16T00:00:00Z</dcterms:created>
  <dcterms:modified xsi:type="dcterms:W3CDTF">2026-09-13T15:03:03Z</dcterms:modified>
</cp:coreProperties>
</file>